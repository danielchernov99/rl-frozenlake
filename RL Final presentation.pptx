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89" r:id="rId3"/>
    <p:sldId id="307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302" r:id="rId13"/>
    <p:sldId id="301" r:id="rId14"/>
    <p:sldId id="299" r:id="rId15"/>
    <p:sldId id="313" r:id="rId16"/>
    <p:sldId id="300" r:id="rId17"/>
    <p:sldId id="298" r:id="rId18"/>
    <p:sldId id="308" r:id="rId19"/>
    <p:sldId id="309" r:id="rId20"/>
    <p:sldId id="314" r:id="rId21"/>
    <p:sldId id="305" r:id="rId22"/>
    <p:sldId id="306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  <p:embeddedFont>
      <p:font typeface="Montserrat ExtraLight" panose="000003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482EAC-0C7B-4A1C-B867-72B8680786ED}">
  <a:tblStyle styleId="{E7482EAC-0C7B-4A1C-B867-72B8680786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34" autoAdjust="0"/>
  </p:normalViewPr>
  <p:slideViewPr>
    <p:cSldViewPr snapToGrid="0">
      <p:cViewPr>
        <p:scale>
          <a:sx n="110" d="100"/>
          <a:sy n="110" d="100"/>
        </p:scale>
        <p:origin x="658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863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988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7266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806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830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0020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00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969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726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050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283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725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11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503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805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74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221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820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406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518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74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Reward Shaping Analysis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Alexandra Belkind &amp; Daniel Chernov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F</a:t>
            </a:r>
            <a:r>
              <a:rPr lang="en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inall project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FrozenLake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2AD7B1-89B2-3AB8-1CC4-0727D3335D7B}"/>
              </a:ext>
            </a:extLst>
          </p:cNvPr>
          <p:cNvSpPr txBox="1"/>
          <p:nvPr/>
        </p:nvSpPr>
        <p:spPr>
          <a:xfrm>
            <a:off x="405338" y="1312083"/>
            <a:ext cx="638203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FrozenLake</a:t>
            </a:r>
            <a:r>
              <a:rPr lang="en-GB" sz="1600" dirty="0">
                <a:solidFill>
                  <a:schemeClr val="bg1"/>
                </a:solidFill>
              </a:rPr>
              <a:t> is a classic discrete grid-world environment from the Gymnasium library.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Objective:</a:t>
            </a:r>
            <a:r>
              <a:rPr lang="en-GB" sz="1600" dirty="0">
                <a:solidFill>
                  <a:schemeClr val="bg1"/>
                </a:solidFill>
              </a:rPr>
              <a:t> The agent must navigate from the </a:t>
            </a:r>
            <a:r>
              <a:rPr lang="en-GB" sz="1600" b="1" dirty="0">
                <a:solidFill>
                  <a:schemeClr val="bg1"/>
                </a:solidFill>
              </a:rPr>
              <a:t>Start (S)</a:t>
            </a:r>
            <a:r>
              <a:rPr lang="en-GB" sz="1600" dirty="0">
                <a:solidFill>
                  <a:schemeClr val="bg1"/>
                </a:solidFill>
              </a:rPr>
              <a:t> point to the </a:t>
            </a:r>
            <a:r>
              <a:rPr lang="en-GB" sz="1600" b="1" dirty="0">
                <a:solidFill>
                  <a:schemeClr val="bg1"/>
                </a:solidFill>
              </a:rPr>
              <a:t>Goal (G)</a:t>
            </a:r>
            <a:r>
              <a:rPr lang="en-GB" sz="1600" dirty="0">
                <a:solidFill>
                  <a:schemeClr val="bg1"/>
                </a:solidFill>
              </a:rPr>
              <a:t> on a frozen surface.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Challenge:</a:t>
            </a:r>
            <a:r>
              <a:rPr lang="en-GB" sz="1600" dirty="0">
                <a:solidFill>
                  <a:schemeClr val="bg1"/>
                </a:solidFill>
              </a:rPr>
              <a:t> The agent must avoid falling into </a:t>
            </a:r>
            <a:r>
              <a:rPr lang="en-GB" sz="1600" b="1" dirty="0">
                <a:solidFill>
                  <a:schemeClr val="bg1"/>
                </a:solidFill>
              </a:rPr>
              <a:t>Holes (H).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Dynamics:</a:t>
            </a:r>
            <a:r>
              <a:rPr lang="en-GB" sz="1600" dirty="0">
                <a:solidFill>
                  <a:schemeClr val="bg1"/>
                </a:solidFill>
              </a:rPr>
              <a:t> The surface is described as "slippery" (stochastic), meaning the agent might not always move in the intended direction due to the ice.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endParaRPr lang="he-IL" sz="1600" dirty="0">
              <a:solidFill>
                <a:schemeClr val="bg1"/>
              </a:solidFill>
            </a:endParaRPr>
          </a:p>
          <a:p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5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499" y="445025"/>
            <a:ext cx="6242885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Map &amp; Initial Reward Function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30CC436-8562-B5DB-FFF5-485BD43602FE}"/>
              </a:ext>
            </a:extLst>
          </p:cNvPr>
          <p:cNvSpPr txBox="1"/>
          <p:nvPr/>
        </p:nvSpPr>
        <p:spPr>
          <a:xfrm>
            <a:off x="3969834" y="1152293"/>
            <a:ext cx="2631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8EAC6-87BB-837E-6B5C-0975FA3BAD46}"/>
              </a:ext>
            </a:extLst>
          </p:cNvPr>
          <p:cNvSpPr txBox="1"/>
          <p:nvPr/>
        </p:nvSpPr>
        <p:spPr>
          <a:xfrm>
            <a:off x="285761" y="1309866"/>
            <a:ext cx="40640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u="sng" dirty="0">
                <a:solidFill>
                  <a:schemeClr val="bg1"/>
                </a:solidFill>
              </a:rPr>
              <a:t>The environment is initialized with a </a:t>
            </a:r>
            <a:r>
              <a:rPr lang="en-GB" sz="1800" b="1" u="sng" dirty="0">
                <a:solidFill>
                  <a:schemeClr val="bg1"/>
                </a:solidFill>
              </a:rPr>
              <a:t>sparse binary reward</a:t>
            </a:r>
            <a:r>
              <a:rPr lang="en-GB" sz="1800" u="sng" dirty="0">
                <a:solidFill>
                  <a:schemeClr val="bg1"/>
                </a:solidFill>
              </a:rPr>
              <a:t> function</a:t>
            </a:r>
            <a:r>
              <a:rPr lang="he-IL" sz="1800" u="sng" dirty="0">
                <a:solidFill>
                  <a:schemeClr val="bg1"/>
                </a:solidFill>
              </a:rPr>
              <a:t>:</a:t>
            </a:r>
            <a:endParaRPr lang="en-GB" sz="1800" u="sng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Reward = +1</a:t>
            </a:r>
            <a:r>
              <a:rPr lang="en-GB" sz="1600" dirty="0">
                <a:solidFill>
                  <a:schemeClr val="bg1"/>
                </a:solidFill>
              </a:rPr>
              <a:t>: Only granted upon reaching the </a:t>
            </a:r>
            <a:r>
              <a:rPr lang="en-GB" sz="1600" b="1" dirty="0">
                <a:solidFill>
                  <a:schemeClr val="bg1"/>
                </a:solidFill>
              </a:rPr>
              <a:t>Goal.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Reward = 0</a:t>
            </a:r>
            <a:r>
              <a:rPr lang="en-GB" sz="1600" dirty="0">
                <a:solidFill>
                  <a:schemeClr val="bg1"/>
                </a:solidFill>
              </a:rPr>
              <a:t>: Given for any other step (walking on Frozen surface or falling into a Hole)</a:t>
            </a:r>
            <a:r>
              <a:rPr lang="en-GB" sz="1600" b="1" dirty="0">
                <a:solidFill>
                  <a:schemeClr val="bg1"/>
                </a:solidFill>
              </a:rPr>
              <a:t>.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This sparsity makes learning difficult, necessitating the use of </a:t>
            </a:r>
            <a:r>
              <a:rPr lang="en-GB" sz="1600" b="1" dirty="0">
                <a:solidFill>
                  <a:schemeClr val="bg1"/>
                </a:solidFill>
              </a:rPr>
              <a:t>Reward Shaping.</a:t>
            </a:r>
          </a:p>
        </p:txBody>
      </p:sp>
      <p:pic>
        <p:nvPicPr>
          <p:cNvPr id="8" name="Picture 7" descr="A screenshot of a game&#10;&#10;Description automatically generated">
            <a:extLst>
              <a:ext uri="{FF2B5EF4-FFF2-40B4-BE49-F238E27FC236}">
                <a16:creationId xmlns:a16="http://schemas.microsoft.com/office/drawing/2014/main" id="{79C35B0E-6AED-2233-7DFD-9870B27A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3" y="1214144"/>
            <a:ext cx="3126208" cy="335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1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</a:t>
            </a:r>
            <a:r>
              <a:rPr lang="en-GB" dirty="0"/>
              <a:t>o</a:t>
            </a:r>
            <a:r>
              <a:rPr lang="en" dirty="0"/>
              <a:t>nte-Carlo </a:t>
            </a:r>
            <a:r>
              <a:rPr lang="en-GB" dirty="0"/>
              <a:t>(</a:t>
            </a:r>
            <a:r>
              <a:rPr lang="en" dirty="0"/>
              <a:t>Every Visit</a:t>
            </a:r>
            <a:r>
              <a:rPr lang="en-GB" dirty="0"/>
              <a:t>)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686CCE-D2A4-D843-663C-509241C80C8C}"/>
                  </a:ext>
                </a:extLst>
              </p:cNvPr>
              <p:cNvSpPr txBox="1"/>
              <p:nvPr/>
            </p:nvSpPr>
            <p:spPr>
              <a:xfrm>
                <a:off x="380410" y="1006870"/>
                <a:ext cx="641663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u="sng" dirty="0">
                    <a:solidFill>
                      <a:schemeClr val="bg1"/>
                    </a:solidFill>
                  </a:rPr>
                  <a:t>The Concept (Learn from History):</a:t>
                </a:r>
              </a:p>
              <a:p>
                <a:r>
                  <a:rPr lang="en-GB" sz="1600" b="1" dirty="0">
                    <a:solidFill>
                      <a:schemeClr val="bg1"/>
                    </a:solidFill>
                  </a:rPr>
                  <a:t>Monte Carlo</a:t>
                </a:r>
                <a:r>
                  <a:rPr lang="en-GB" sz="1600" dirty="0">
                    <a:solidFill>
                      <a:schemeClr val="bg1"/>
                    </a:solidFill>
                  </a:rPr>
                  <a:t> agent waits for the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entire episode</a:t>
                </a:r>
                <a:r>
                  <a:rPr lang="en-GB" sz="1600" dirty="0">
                    <a:solidFill>
                      <a:schemeClr val="bg1"/>
                    </a:solidFill>
                  </a:rPr>
                  <a:t> to finish.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It then looks at the episode in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reverse</a:t>
                </a:r>
                <a:r>
                  <a:rPr lang="en-GB" sz="1600" dirty="0">
                    <a:solidFill>
                      <a:schemeClr val="bg1"/>
                    </a:solidFill>
                  </a:rPr>
                  <a:t> (from end to start) to calculate the total Returns (G) for every decision it made along the way.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The Update Rule:</a:t>
                </a: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Instead of calculating a simple average of all past returns (Theoretical approach), we use a Constant</a:t>
                </a:r>
                <a:r>
                  <a:rPr lang="he-IL" sz="1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𝜶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 update rule:</a:t>
                </a:r>
                <a:br>
                  <a:rPr lang="en-GB" sz="1600" dirty="0">
                    <a:solidFill>
                      <a:schemeClr val="bg1"/>
                    </a:solidFill>
                  </a:rPr>
                </a:br>
                <a:endParaRPr lang="en-GB" sz="1600" dirty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𝑸</m:t>
                      </m:r>
                      <m:d>
                        <m:dPr>
                          <m:ctrlP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𝑺</m:t>
                          </m:r>
                          <m:r>
                            <a:rPr lang="en-GB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𝑨</m:t>
                          </m:r>
                        </m:e>
                      </m:d>
                      <m:r>
                        <a:rPr lang="en-GB" sz="1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𝑸</m:t>
                      </m:r>
                      <m:d>
                        <m:dPr>
                          <m:ctrlP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𝑺</m:t>
                          </m:r>
                          <m:r>
                            <a:rPr lang="en-GB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𝑨</m:t>
                          </m:r>
                        </m:e>
                      </m:d>
                      <m:r>
                        <a:rPr lang="en-GB" sz="1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𝜶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𝑮</m:t>
                          </m:r>
                          <m:r>
                            <a:rPr lang="en-GB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𝑸</m:t>
                          </m:r>
                          <m:d>
                            <m:dPr>
                              <m:ctrlPr>
                                <a:rPr lang="en-GB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𝑺</m:t>
                              </m:r>
                              <m:r>
                                <a:rPr lang="en-GB" sz="16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GB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𝑨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GB" sz="1600" b="1" dirty="0">
                    <a:solidFill>
                      <a:schemeClr val="bg1"/>
                    </a:solidFill>
                  </a:rPr>
                </a:br>
                <a:endParaRPr lang="en-GB" sz="1600" b="1" dirty="0">
                  <a:solidFill>
                    <a:schemeClr val="bg1"/>
                  </a:solidFill>
                </a:endParaRPr>
              </a:p>
              <a:p>
                <a:br>
                  <a:rPr lang="en-GB" sz="1600" b="1" dirty="0">
                    <a:solidFill>
                      <a:schemeClr val="bg1"/>
                    </a:solidFill>
                  </a:rPr>
                </a:br>
                <a:r>
                  <a:rPr lang="en-GB" sz="1600" b="1" dirty="0">
                    <a:solidFill>
                      <a:schemeClr val="bg1"/>
                    </a:solidFill>
                  </a:rPr>
                  <a:t>Every-Visit:</a:t>
                </a:r>
                <a:r>
                  <a:rPr lang="en-GB" sz="1600" dirty="0">
                    <a:solidFill>
                      <a:schemeClr val="bg1"/>
                    </a:solidFill>
                  </a:rPr>
                  <a:t> We update the Q-value </a:t>
                </a:r>
                <a:r>
                  <a:rPr lang="en-GB" sz="1600" i="1" dirty="0">
                    <a:solidFill>
                      <a:schemeClr val="bg1"/>
                    </a:solidFill>
                  </a:rPr>
                  <a:t>every time</a:t>
                </a:r>
                <a:r>
                  <a:rPr lang="en-GB" sz="1600" dirty="0">
                    <a:solidFill>
                      <a:schemeClr val="bg1"/>
                    </a:solidFill>
                  </a:rPr>
                  <a:t> a state is visited in the episode, not just the first time.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686CCE-D2A4-D843-663C-509241C80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10" y="1006870"/>
                <a:ext cx="6416630" cy="3785652"/>
              </a:xfrm>
              <a:prstGeom prst="rect">
                <a:avLst/>
              </a:prstGeom>
              <a:blipFill>
                <a:blip r:embed="rId3"/>
                <a:stretch>
                  <a:fillRect l="-475" t="-483" r="-6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82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D4F067-BEBD-DF1D-C23E-8A564C29A7E5}"/>
                  </a:ext>
                </a:extLst>
              </p:cNvPr>
              <p:cNvSpPr txBox="1"/>
              <p:nvPr/>
            </p:nvSpPr>
            <p:spPr>
              <a:xfrm>
                <a:off x="426720" y="1030025"/>
                <a:ext cx="6461760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1"/>
                    </a:solidFill>
                  </a:rPr>
                  <a:t>The Concept (Learn on the Fly):</a:t>
                </a:r>
              </a:p>
              <a:p>
                <a:r>
                  <a:rPr lang="en-GB" sz="1600" b="1" dirty="0">
                    <a:solidFill>
                      <a:schemeClr val="bg1"/>
                    </a:solidFill>
                  </a:rPr>
                  <a:t>SARSA</a:t>
                </a:r>
                <a:r>
                  <a:rPr lang="en-GB" sz="1600" dirty="0">
                    <a:solidFill>
                      <a:schemeClr val="bg1"/>
                    </a:solidFill>
                  </a:rPr>
                  <a:t> updates its knowledge after every single step.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The Name stands for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S</a:t>
                </a:r>
                <a:r>
                  <a:rPr lang="en-GB" sz="1600" dirty="0">
                    <a:solidFill>
                      <a:schemeClr val="bg1"/>
                    </a:solidFill>
                  </a:rPr>
                  <a:t>tate,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A</a:t>
                </a:r>
                <a:r>
                  <a:rPr lang="en-GB" sz="1600" dirty="0">
                    <a:solidFill>
                      <a:schemeClr val="bg1"/>
                    </a:solidFill>
                  </a:rPr>
                  <a:t>ction,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R</a:t>
                </a:r>
                <a:r>
                  <a:rPr lang="en-GB" sz="1600" dirty="0">
                    <a:solidFill>
                      <a:schemeClr val="bg1"/>
                    </a:solidFill>
                  </a:rPr>
                  <a:t>eward,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S</a:t>
                </a:r>
                <a:r>
                  <a:rPr lang="en-GB" sz="1600" dirty="0">
                    <a:solidFill>
                      <a:schemeClr val="bg1"/>
                    </a:solidFill>
                  </a:rPr>
                  <a:t>tate (next),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A</a:t>
                </a:r>
                <a:r>
                  <a:rPr lang="en-GB" sz="1600" dirty="0">
                    <a:solidFill>
                      <a:schemeClr val="bg1"/>
                    </a:solidFill>
                  </a:rPr>
                  <a:t>ction (next) - the exact sequence needed for one update.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The Update Rule</a:t>
                </a:r>
                <a:r>
                  <a:rPr lang="he-IL" sz="1600" dirty="0">
                    <a:solidFill>
                      <a:schemeClr val="bg1"/>
                    </a:solidFill>
                  </a:rPr>
                  <a:t>:</a:t>
                </a: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The agent updates the Q-value using the standard Constant</a:t>
                </a:r>
                <a:r>
                  <a:rPr lang="he-IL" sz="1600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𝜶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 formula: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𝑸</m:t>
                      </m:r>
                      <m:d>
                        <m:dPr>
                          <m:ctrlP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𝑺</m:t>
                          </m:r>
                          <m:r>
                            <a:rPr lang="en-GB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𝑨</m:t>
                          </m:r>
                        </m:e>
                      </m:d>
                      <m:r>
                        <a:rPr lang="en-GB" sz="1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𝑸</m:t>
                      </m:r>
                      <m:d>
                        <m:dPr>
                          <m:ctrlP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𝑺</m:t>
                          </m:r>
                          <m:r>
                            <a:rPr lang="en-GB" sz="16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GB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𝑨</m:t>
                          </m:r>
                        </m:e>
                      </m:d>
                      <m:r>
                        <a:rPr lang="en-GB" sz="1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GB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𝜶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sz="1600" b="1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16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GB" sz="1600" b="1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600" b="1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1600" b="1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1600" b="1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16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GB" sz="1600" b="1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6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1600" b="1" dirty="0">
                  <a:solidFill>
                    <a:schemeClr val="bg1"/>
                  </a:solidFill>
                </a:endParaRPr>
              </a:p>
              <a:p>
                <a:br>
                  <a:rPr lang="en-GB" sz="1600" b="1" dirty="0">
                    <a:solidFill>
                      <a:schemeClr val="bg1"/>
                    </a:solidFill>
                  </a:rPr>
                </a:br>
                <a:endParaRPr lang="en-GB" sz="1600" dirty="0">
                  <a:solidFill>
                    <a:schemeClr val="bg1"/>
                  </a:solidFill>
                </a:endParaRP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D4F067-BEBD-DF1D-C23E-8A564C29A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1030025"/>
                <a:ext cx="6461760" cy="4031873"/>
              </a:xfrm>
              <a:prstGeom prst="rect">
                <a:avLst/>
              </a:prstGeom>
              <a:blipFill>
                <a:blip r:embed="rId3"/>
                <a:stretch>
                  <a:fillRect l="-472" t="-4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61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447060" cy="736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Learning Rate Strategy</a:t>
            </a:r>
            <a:r>
              <a:rPr lang="he-IL" dirty="0"/>
              <a:t>-</a:t>
            </a:r>
            <a:r>
              <a:rPr lang="en-GB" dirty="0"/>
              <a:t>Constant Alpha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E83E89-E183-BC8B-73B7-30DCD2264727}"/>
                  </a:ext>
                </a:extLst>
              </p:cNvPr>
              <p:cNvSpPr txBox="1"/>
              <p:nvPr/>
            </p:nvSpPr>
            <p:spPr>
              <a:xfrm>
                <a:off x="576349" y="1720287"/>
                <a:ext cx="52197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1"/>
                    </a:solidFill>
                  </a:rPr>
                  <a:t>What is Alpha:</a:t>
                </a: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Alpha is the </a:t>
                </a:r>
                <a:r>
                  <a:rPr lang="en-GB" sz="1600" b="1" dirty="0">
                    <a:solidFill>
                      <a:schemeClr val="bg1"/>
                    </a:solidFill>
                  </a:rPr>
                  <a:t>Learning Rate</a:t>
                </a:r>
                <a:r>
                  <a:rPr lang="en-GB" sz="1600" dirty="0">
                    <a:solidFill>
                      <a:schemeClr val="bg1"/>
                    </a:solidFill>
                  </a:rPr>
                  <a:t> (step size). It determines how much new information overrides old knowledge.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Range: 0 &lt; </a:t>
                </a:r>
                <a:r>
                  <a:rPr lang="en-GB" sz="16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𝜶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 &lt; 1</a:t>
                </a: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High</a:t>
                </a:r>
                <a:r>
                  <a:rPr lang="en-GB" sz="16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𝜶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 Fast learning, but unstable (forgets history too quickly).</a:t>
                </a:r>
              </a:p>
              <a:p>
                <a:r>
                  <a:rPr lang="en-GB" sz="1600" dirty="0">
                    <a:solidFill>
                      <a:schemeClr val="bg1"/>
                    </a:solidFill>
                  </a:rPr>
                  <a:t>Low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𝜶</m:t>
                    </m:r>
                    <m:r>
                      <a:rPr lang="en-GB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Stable, but slow convergence.</a:t>
                </a:r>
              </a:p>
              <a:p>
                <a:endParaRPr lang="en-GB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E83E89-E183-BC8B-73B7-30DCD2264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49" y="1720287"/>
                <a:ext cx="5219700" cy="2308324"/>
              </a:xfrm>
              <a:prstGeom prst="rect">
                <a:avLst/>
              </a:prstGeom>
              <a:blipFill>
                <a:blip r:embed="rId3"/>
                <a:stretch>
                  <a:fillRect l="-701" t="-7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0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Standard Shaping Methods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37332FA-9235-06CB-E303-9966AFA9929D}"/>
              </a:ext>
            </a:extLst>
          </p:cNvPr>
          <p:cNvSpPr txBox="1"/>
          <p:nvPr/>
        </p:nvSpPr>
        <p:spPr>
          <a:xfrm>
            <a:off x="342900" y="1272124"/>
            <a:ext cx="627888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0" i="0" u="sng" dirty="0">
                <a:solidFill>
                  <a:srgbClr val="E3E3E3"/>
                </a:solidFill>
                <a:effectLst/>
                <a:latin typeface="+mn-lt"/>
              </a:rPr>
              <a:t>Baseline</a:t>
            </a: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: Uses the original sparse reward (+1 only at Goal, 0 otherwise). Used as a control group.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algn="l"/>
            <a:r>
              <a:rPr lang="en-GB" sz="1600" b="0" i="0" u="sng" dirty="0">
                <a:solidFill>
                  <a:srgbClr val="E3E3E3"/>
                </a:solidFill>
                <a:effectLst/>
                <a:latin typeface="+mn-lt"/>
              </a:rPr>
              <a:t>Step Cost</a:t>
            </a: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: Adds a constant penalty (-0.01) per step. This encourages the agent to find the shortest path to the goal to minimize accumulated debt.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algn="l"/>
            <a:r>
              <a:rPr lang="en-GB" sz="1600" b="0" i="0" u="sng" dirty="0">
                <a:solidFill>
                  <a:srgbClr val="E3E3E3"/>
                </a:solidFill>
                <a:effectLst/>
                <a:latin typeface="+mn-lt"/>
              </a:rPr>
              <a:t>Potential-Based Shaping (PBRS)</a:t>
            </a: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:</a:t>
            </a:r>
          </a:p>
          <a:p>
            <a:pPr algn="l"/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We used the negative Manhattan Distance to the goal. As the agent gets closer, the reward is positive; if it moves away, it is negative.</a:t>
            </a:r>
          </a:p>
          <a:p>
            <a:endParaRPr lang="en-GB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451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Custom 1 - Safety First 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8E558E-0D4D-A9D4-5053-1D570B317C53}"/>
              </a:ext>
            </a:extLst>
          </p:cNvPr>
          <p:cNvSpPr txBox="1"/>
          <p:nvPr/>
        </p:nvSpPr>
        <p:spPr>
          <a:xfrm>
            <a:off x="315510" y="1058287"/>
            <a:ext cx="71607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>
                <a:solidFill>
                  <a:schemeClr val="bg1"/>
                </a:solidFill>
              </a:rPr>
              <a:t>Motivation</a:t>
            </a:r>
            <a:r>
              <a:rPr lang="en-GB" sz="1600" dirty="0">
                <a:solidFill>
                  <a:schemeClr val="bg1"/>
                </a:solidFill>
              </a:rPr>
              <a:t>: </a:t>
            </a:r>
          </a:p>
          <a:p>
            <a:r>
              <a:rPr lang="en-GB" sz="1600" dirty="0">
                <a:solidFill>
                  <a:schemeClr val="bg1"/>
                </a:solidFill>
              </a:rPr>
              <a:t>In the standard FrozenLake, falling into a hole yields a reward of </a:t>
            </a:r>
            <a:r>
              <a:rPr lang="en-GB" sz="1600" b="1" dirty="0">
                <a:solidFill>
                  <a:schemeClr val="bg1"/>
                </a:solidFill>
              </a:rPr>
              <a:t>0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To the agent, this is technically "not bad" compared to wandering aimlessly.</a:t>
            </a:r>
          </a:p>
          <a:p>
            <a:r>
              <a:rPr lang="en-GB" sz="1600" dirty="0">
                <a:solidFill>
                  <a:schemeClr val="bg1"/>
                </a:solidFill>
              </a:rPr>
              <a:t>We wanted to explicitly teach the agent that </a:t>
            </a:r>
            <a:r>
              <a:rPr lang="en-GB" sz="1600" b="1" dirty="0">
                <a:solidFill>
                  <a:schemeClr val="bg1"/>
                </a:solidFill>
              </a:rPr>
              <a:t>dying is bad.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u="sng" dirty="0">
                <a:solidFill>
                  <a:schemeClr val="bg1"/>
                </a:solidFill>
              </a:rPr>
              <a:t>Implementation</a:t>
            </a:r>
            <a:r>
              <a:rPr lang="en-GB" sz="1600" b="1" dirty="0">
                <a:solidFill>
                  <a:schemeClr val="bg1"/>
                </a:solidFill>
              </a:rPr>
              <a:t>:</a:t>
            </a:r>
          </a:p>
          <a:p>
            <a:r>
              <a:rPr lang="en-GB" sz="1600" dirty="0">
                <a:solidFill>
                  <a:schemeClr val="bg1"/>
                </a:solidFill>
              </a:rPr>
              <a:t>We utilized our Wrapper to combine the logic from the previous strategies.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The Key Addition:</a:t>
            </a:r>
            <a:r>
              <a:rPr lang="en-GB" sz="1600" dirty="0">
                <a:solidFill>
                  <a:schemeClr val="bg1"/>
                </a:solidFill>
              </a:rPr>
              <a:t> We added a specific condition for failure. If the agent falls into a hole, we apply a specific </a:t>
            </a:r>
            <a:r>
              <a:rPr lang="en-GB" sz="1600" b="1" dirty="0">
                <a:solidFill>
                  <a:schemeClr val="bg1"/>
                </a:solidFill>
              </a:rPr>
              <a:t>Penalty of -0.5.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600" u="sng" dirty="0">
                <a:solidFill>
                  <a:schemeClr val="bg1"/>
                </a:solidFill>
              </a:rPr>
              <a:t>Advantages</a:t>
            </a:r>
            <a:r>
              <a:rPr lang="en-GB" sz="1600" b="1" dirty="0">
                <a:solidFill>
                  <a:schemeClr val="bg1"/>
                </a:solidFill>
              </a:rPr>
              <a:t>:</a:t>
            </a:r>
          </a:p>
          <a:p>
            <a:r>
              <a:rPr lang="en-GB" sz="1600" dirty="0">
                <a:solidFill>
                  <a:schemeClr val="bg1"/>
                </a:solidFill>
              </a:rPr>
              <a:t>This strategy solves the conflict between speed and safety.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The agent wants to reach the goal fast but is forced to be careful around holes.</a:t>
            </a:r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36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621668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Custom 2 -</a:t>
            </a:r>
            <a:r>
              <a:rPr lang="he-IL" dirty="0"/>
              <a:t> </a:t>
            </a:r>
            <a:r>
              <a:rPr lang="en-GB" dirty="0"/>
              <a:t>Advanced Guidance 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B4FF5BB-E58F-805A-C88A-354EE54FDAD8}"/>
              </a:ext>
            </a:extLst>
          </p:cNvPr>
          <p:cNvSpPr txBox="1"/>
          <p:nvPr/>
        </p:nvSpPr>
        <p:spPr>
          <a:xfrm>
            <a:off x="327660" y="1074420"/>
            <a:ext cx="7794020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>
                <a:solidFill>
                  <a:schemeClr val="bg1"/>
                </a:solidFill>
              </a:rPr>
              <a:t>Implementation</a:t>
            </a:r>
            <a:r>
              <a:rPr lang="en-GB" sz="1600" dirty="0">
                <a:solidFill>
                  <a:schemeClr val="bg1"/>
                </a:solidFill>
              </a:rPr>
              <a:t>:</a:t>
            </a:r>
          </a:p>
          <a:p>
            <a:r>
              <a:rPr lang="en-GB" sz="1600" dirty="0">
                <a:solidFill>
                  <a:schemeClr val="bg1"/>
                </a:solidFill>
              </a:rPr>
              <a:t>We used our Wrapper to combine all the logic we discussed into one formula.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1"/>
                </a:solidFill>
              </a:rPr>
              <a:t>Potential</a:t>
            </a:r>
            <a:r>
              <a:rPr lang="en-GB" sz="1600" dirty="0">
                <a:solidFill>
                  <a:schemeClr val="bg1"/>
                </a:solidFill>
              </a:rPr>
              <a:t>: To guide the agent toward the goal.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1"/>
                </a:solidFill>
              </a:rPr>
              <a:t>Step Cost (-0.001): </a:t>
            </a:r>
            <a:r>
              <a:rPr lang="en-GB" sz="1600" dirty="0">
                <a:solidFill>
                  <a:schemeClr val="bg1"/>
                </a:solidFill>
              </a:rPr>
              <a:t>To encourage speed.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1"/>
                </a:solidFill>
              </a:rPr>
              <a:t>Hole Penalty (-0.5): </a:t>
            </a:r>
            <a:r>
              <a:rPr lang="en-GB" sz="1600" dirty="0">
                <a:solidFill>
                  <a:schemeClr val="bg1"/>
                </a:solidFill>
              </a:rPr>
              <a:t>If the agent falls, it gets a specific punishment of -0.5.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1"/>
                </a:solidFill>
              </a:rPr>
              <a:t>Formula: </a:t>
            </a:r>
            <a:r>
              <a:rPr lang="en-GB" sz="1800" b="1" dirty="0">
                <a:solidFill>
                  <a:schemeClr val="bg1"/>
                </a:solidFill>
              </a:rPr>
              <a:t>Total= Potential +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Cumulative</a:t>
            </a:r>
            <a:r>
              <a:rPr lang="en-GB" sz="1800" b="1" dirty="0">
                <a:solidFill>
                  <a:schemeClr val="bg1"/>
                </a:solidFill>
              </a:rPr>
              <a:t>StepCost + HolePenalty</a:t>
            </a:r>
          </a:p>
          <a:p>
            <a:br>
              <a:rPr lang="en-GB" sz="1600" u="sng" dirty="0">
                <a:solidFill>
                  <a:schemeClr val="bg1"/>
                </a:solidFill>
              </a:rPr>
            </a:br>
            <a:r>
              <a:rPr lang="en-GB" sz="1600" u="sng" dirty="0">
                <a:solidFill>
                  <a:schemeClr val="bg1"/>
                </a:solidFill>
              </a:rPr>
              <a:t>Advantages:</a:t>
            </a:r>
          </a:p>
          <a:p>
            <a:r>
              <a:rPr lang="en-GB" sz="1800" dirty="0">
                <a:solidFill>
                  <a:schemeClr val="bg1"/>
                </a:solidFill>
              </a:rPr>
              <a:t>This strategy balances efficiency with safety and accelerates learning by turning neutral failures into clear penalties.</a:t>
            </a:r>
          </a:p>
        </p:txBody>
      </p:sp>
    </p:spTree>
    <p:extLst>
      <p:ext uri="{BB962C8B-B14F-4D97-AF65-F5344CB8AC3E}">
        <p14:creationId xmlns:p14="http://schemas.microsoft.com/office/powerpoint/2010/main" val="223082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Throughput SARSA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E32B8E-9BEA-175C-C7C9-408BD725BF27}"/>
              </a:ext>
            </a:extLst>
          </p:cNvPr>
          <p:cNvSpPr txBox="1"/>
          <p:nvPr/>
        </p:nvSpPr>
        <p:spPr>
          <a:xfrm>
            <a:off x="3040380" y="1386425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4D2D958D-7173-CD84-A979-6E84B76B7B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56" t="8050" r="9377" b="2370"/>
          <a:stretch/>
        </p:blipFill>
        <p:spPr>
          <a:xfrm>
            <a:off x="358140" y="1000963"/>
            <a:ext cx="6240780" cy="394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7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Throughput MC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4BBE499C-2DD9-AD2F-8630-06A4F9A87C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4" t="8050" r="9555" b="2370"/>
          <a:stretch/>
        </p:blipFill>
        <p:spPr>
          <a:xfrm>
            <a:off x="320040" y="940021"/>
            <a:ext cx="6332220" cy="401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7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 - Throughput (SARSA &amp; MC)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9423F9-2AFC-7878-6F4A-73461A14C38B}"/>
              </a:ext>
            </a:extLst>
          </p:cNvPr>
          <p:cNvSpPr txBox="1"/>
          <p:nvPr/>
        </p:nvSpPr>
        <p:spPr>
          <a:xfrm>
            <a:off x="407465" y="1811507"/>
            <a:ext cx="6763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Best Early Learning: "Safety First" (Red line) had the fastest start.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SARSA vs. MC: SARSA learns much faster because it updates every step.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Advanced Strategy: Improved performance but was slower than "Safety First".</a:t>
            </a:r>
          </a:p>
          <a:p>
            <a:endParaRPr lang="en-GB" sz="1600" b="1" dirty="0">
              <a:solidFill>
                <a:schemeClr val="bg1"/>
              </a:solidFill>
              <a:latin typeface="+mn-lt"/>
            </a:endParaRPr>
          </a:p>
          <a:p>
            <a:endParaRPr lang="en-GB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888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Returns SARSA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59F21A32-005C-D0BD-B4EA-64D40660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0" y="960120"/>
            <a:ext cx="3926363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7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Returns MC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A3794FD3-D919-61F7-D093-FE18436D4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00" y="1028700"/>
            <a:ext cx="3764603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11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 - Returns (Total Reward)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9423F9-2AFC-7878-6F4A-73461A14C38B}"/>
              </a:ext>
            </a:extLst>
          </p:cNvPr>
          <p:cNvSpPr txBox="1"/>
          <p:nvPr/>
        </p:nvSpPr>
        <p:spPr>
          <a:xfrm>
            <a:off x="407465" y="1720590"/>
            <a:ext cx="6763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Stability: SARSA is more stable and consistent than Monte Carlo.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Fastest Stabilization: "Safety First" reached peak performance quickest.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Failure Case: Step-Cost in MC caused "suicide behaviour" (falling on purpose) to avoid penalties.</a:t>
            </a:r>
          </a:p>
          <a:p>
            <a:endParaRPr lang="en-GB" sz="1600" b="1" dirty="0">
              <a:solidFill>
                <a:schemeClr val="bg1"/>
              </a:solidFill>
              <a:latin typeface="+mn-lt"/>
            </a:endParaRPr>
          </a:p>
          <a:p>
            <a:endParaRPr lang="en-GB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8958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Sensitive SARSA Alpha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8" name="Picture 7" descr="A graph showing a line&#10;&#10;Description automatically generated">
            <a:extLst>
              <a:ext uri="{FF2B5EF4-FFF2-40B4-BE49-F238E27FC236}">
                <a16:creationId xmlns:a16="http://schemas.microsoft.com/office/drawing/2014/main" id="{4663DFD6-770A-7912-CAA9-9F6FABBEF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09" y="1192887"/>
            <a:ext cx="8640000" cy="24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7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Sensitive MC Alpha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Picture 6" descr="A graph showing a line&#10;&#10;Description automatically generated">
            <a:extLst>
              <a:ext uri="{FF2B5EF4-FFF2-40B4-BE49-F238E27FC236}">
                <a16:creationId xmlns:a16="http://schemas.microsoft.com/office/drawing/2014/main" id="{A7491076-9705-CC95-DAB1-378B3AF6F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" y="1275503"/>
            <a:ext cx="8640000" cy="24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5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Sensitive SARSA Epsilon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 descr="A graph showing a line&#10;&#10;Description automatically generated">
            <a:extLst>
              <a:ext uri="{FF2B5EF4-FFF2-40B4-BE49-F238E27FC236}">
                <a16:creationId xmlns:a16="http://schemas.microsoft.com/office/drawing/2014/main" id="{96E6AB6A-BD51-F0A8-A80A-319F32B90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72" y="1330963"/>
            <a:ext cx="8640000" cy="24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65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Sensitive MC Epsilon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 descr="A graph showing a line&#10;&#10;Description automatically generated">
            <a:extLst>
              <a:ext uri="{FF2B5EF4-FFF2-40B4-BE49-F238E27FC236}">
                <a16:creationId xmlns:a16="http://schemas.microsoft.com/office/drawing/2014/main" id="{E5EE5454-D9D5-99A7-1B3B-D735E8D6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37" y="1386425"/>
            <a:ext cx="8640000" cy="24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3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 - Sensitivity Analysis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9423F9-2AFC-7878-6F4A-73461A14C38B}"/>
              </a:ext>
            </a:extLst>
          </p:cNvPr>
          <p:cNvSpPr txBox="1"/>
          <p:nvPr/>
        </p:nvSpPr>
        <p:spPr>
          <a:xfrm>
            <a:off x="367286" y="1610446"/>
            <a:ext cx="719729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0" i="0" u="sng" dirty="0">
                <a:solidFill>
                  <a:srgbClr val="E3E3E3"/>
                </a:solidFill>
                <a:effectLst/>
                <a:latin typeface="+mn-lt"/>
              </a:rPr>
              <a:t>Learning Rate (Alpha):</a:t>
            </a:r>
          </a:p>
          <a:p>
            <a:pPr algn="l"/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algn="l"/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0.1 (Optimal): Best balance of exploration speed and final stability.</a:t>
            </a:r>
          </a:p>
          <a:p>
            <a:pPr algn="l"/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0.05: Too conservative, slow convergence to the goal.</a:t>
            </a:r>
          </a:p>
          <a:p>
            <a:pPr algn="l"/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0.2: Too random, excessive exploration degrades final performance.</a:t>
            </a:r>
          </a:p>
          <a:p>
            <a:pPr algn="l"/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algn="l"/>
            <a:r>
              <a:rPr lang="en-GB" sz="1600" b="0" i="0" u="sng" dirty="0">
                <a:solidFill>
                  <a:srgbClr val="E3E3E3"/>
                </a:solidFill>
                <a:effectLst/>
                <a:latin typeface="+mn-lt"/>
              </a:rPr>
              <a:t>Exploration Rate (Epsilon)</a:t>
            </a:r>
            <a:r>
              <a:rPr lang="he-IL" sz="1600" b="0" i="0" u="sng" dirty="0">
                <a:solidFill>
                  <a:srgbClr val="E3E3E3"/>
                </a:solidFill>
                <a:effectLst/>
                <a:latin typeface="+mn-lt"/>
              </a:rPr>
              <a:t>:</a:t>
            </a:r>
          </a:p>
          <a:p>
            <a:pPr algn="l"/>
            <a:endParaRPr lang="he-IL" sz="1200" b="1" dirty="0">
              <a:solidFill>
                <a:schemeClr val="bg1"/>
              </a:solidFill>
              <a:latin typeface="+mn-lt"/>
            </a:endParaRPr>
          </a:p>
          <a:p>
            <a:r>
              <a:rPr lang="en-GB" sz="1600" dirty="0">
                <a:solidFill>
                  <a:schemeClr val="bg1"/>
                </a:solidFill>
                <a:latin typeface="+mn-lt"/>
              </a:rPr>
              <a:t>0.1 (Optimal): Best balance of exploration speed and policy stability.</a:t>
            </a:r>
          </a:p>
          <a:p>
            <a:r>
              <a:rPr lang="en-GB" sz="1600" dirty="0">
                <a:solidFill>
                  <a:schemeClr val="bg1"/>
                </a:solidFill>
                <a:latin typeface="+mn-lt"/>
              </a:rPr>
              <a:t>0.05: Too conservative, results in slow convergence.</a:t>
            </a:r>
          </a:p>
          <a:p>
            <a:r>
              <a:rPr lang="en-GB" sz="1600" dirty="0">
                <a:solidFill>
                  <a:schemeClr val="bg1"/>
                </a:solidFill>
                <a:latin typeface="+mn-lt"/>
              </a:rPr>
              <a:t>0.2: Too random, degrades final performance due to excessive exploration</a:t>
            </a:r>
            <a:r>
              <a:rPr lang="en-GB" sz="1200" b="1" dirty="0">
                <a:solidFill>
                  <a:schemeClr val="bg1"/>
                </a:solidFill>
                <a:latin typeface="+mn-lt"/>
              </a:rPr>
              <a:t>.</a:t>
            </a:r>
          </a:p>
          <a:p>
            <a:endParaRPr lang="en-GB" sz="1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4909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Conclusions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AF09ECC-7CB5-56F6-50E0-6FB268F92137}"/>
              </a:ext>
            </a:extLst>
          </p:cNvPr>
          <p:cNvSpPr txBox="1"/>
          <p:nvPr/>
        </p:nvSpPr>
        <p:spPr>
          <a:xfrm>
            <a:off x="461497" y="1386425"/>
            <a:ext cx="6763470" cy="271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Shaping Works: Crucial for speeding up learning in sparse environments.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Safety &gt; Potential: Avoiding death ("Safety First") taught the agent better than seeking the goal.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Algorithm Fit: SARSA benefits more from shaping than MC.</a:t>
            </a:r>
            <a:b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</a:br>
            <a:endParaRPr lang="en-GB" sz="1600" b="0" i="0" dirty="0">
              <a:solidFill>
                <a:srgbClr val="E3E3E3"/>
              </a:solidFill>
              <a:effectLst/>
              <a:latin typeface="+mn-lt"/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E3E3E3"/>
                </a:solidFill>
                <a:effectLst/>
                <a:latin typeface="+mn-lt"/>
              </a:rPr>
              <a:t>Keep it Simple: Complex hybrid strategies did not beat simple safety rules.</a:t>
            </a:r>
          </a:p>
          <a:p>
            <a:endParaRPr lang="en-GB" sz="105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4497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4"/>
            <a:ext cx="5325140" cy="3250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dirty="0"/>
              <a:t>Thank You</a:t>
            </a:r>
            <a:endParaRPr sz="6600"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Picture 1" descr="A screenshot of a game&#10;&#10;Description automatically generated">
            <a:extLst>
              <a:ext uri="{FF2B5EF4-FFF2-40B4-BE49-F238E27FC236}">
                <a16:creationId xmlns:a16="http://schemas.microsoft.com/office/drawing/2014/main" id="{D5F79D1A-A39C-DF75-865B-3BAC3321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793" y="1714500"/>
            <a:ext cx="2872885" cy="30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17710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</TotalTime>
  <Words>977</Words>
  <Application>Microsoft Office PowerPoint</Application>
  <PresentationFormat>On-screen Show (16:9)</PresentationFormat>
  <Paragraphs>109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Cambria Math</vt:lpstr>
      <vt:lpstr>Arial</vt:lpstr>
      <vt:lpstr>Montserrat ExtraBold</vt:lpstr>
      <vt:lpstr>Montserrat ExtraLight</vt:lpstr>
      <vt:lpstr>Montserrat</vt:lpstr>
      <vt:lpstr>Futuristic Background by Slidesgo</vt:lpstr>
      <vt:lpstr>Reward Shaping Analysis</vt:lpstr>
      <vt:lpstr>FrozenLake</vt:lpstr>
      <vt:lpstr>Our Map &amp; Initial Reward Function</vt:lpstr>
      <vt:lpstr>Monte-Carlo (Every Visit)</vt:lpstr>
      <vt:lpstr>SARSA</vt:lpstr>
      <vt:lpstr>The Learning Rate Strategy-Constant Alpha</vt:lpstr>
      <vt:lpstr>Standard Shaping Methods</vt:lpstr>
      <vt:lpstr>Custom 1 - Safety First </vt:lpstr>
      <vt:lpstr>Custom 2 - Advanced Guidance </vt:lpstr>
      <vt:lpstr>Throughput SARSA</vt:lpstr>
      <vt:lpstr>Throughput MC</vt:lpstr>
      <vt:lpstr>Results - Throughput (SARSA &amp; MC)</vt:lpstr>
      <vt:lpstr>Returns SARSA</vt:lpstr>
      <vt:lpstr>Returns MC</vt:lpstr>
      <vt:lpstr>Results - Returns (Total Reward)</vt:lpstr>
      <vt:lpstr>Sensitive SARSA Alpha</vt:lpstr>
      <vt:lpstr>Sensitive MC Alpha</vt:lpstr>
      <vt:lpstr>Sensitive SARSA Epsilon</vt:lpstr>
      <vt:lpstr>Sensitive MC Epsilon</vt:lpstr>
      <vt:lpstr>Results - Sensitivity Analysis</vt:lpstr>
      <vt:lpstr>Conclusions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FUTURISTIC</dc:title>
  <cp:lastModifiedBy>אלכסנדרה בלקינד</cp:lastModifiedBy>
  <cp:revision>20</cp:revision>
  <dcterms:modified xsi:type="dcterms:W3CDTF">2026-01-20T13:50:32Z</dcterms:modified>
</cp:coreProperties>
</file>